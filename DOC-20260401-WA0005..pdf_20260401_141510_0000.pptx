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T Drugs" charset="1" panose="02000503060000020003"/>
      <p:regular r:id="rId27"/>
    </p:embeddedFont>
    <p:embeddedFont>
      <p:font typeface="TT Interphases" charset="1" panose="020005030200000200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8.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76053" y="2930947"/>
            <a:ext cx="11231128" cy="2066925"/>
          </a:xfrm>
          <a:prstGeom prst="rect">
            <a:avLst/>
          </a:prstGeom>
        </p:spPr>
        <p:txBody>
          <a:bodyPr anchor="t" rtlCol="false" tIns="0" lIns="0" bIns="0" rIns="0">
            <a:spAutoFit/>
          </a:bodyPr>
          <a:lstStyle/>
          <a:p>
            <a:pPr algn="l">
              <a:lnSpc>
                <a:spcPts val="16800"/>
              </a:lnSpc>
            </a:pPr>
            <a:r>
              <a:rPr lang="en-US" sz="12000">
                <a:solidFill>
                  <a:srgbClr val="FFFFFF"/>
                </a:solidFill>
                <a:latin typeface="TT Drugs"/>
                <a:ea typeface="TT Drugs"/>
                <a:cs typeface="TT Drugs"/>
                <a:sym typeface="TT Drugs"/>
              </a:rPr>
              <a:t>E-COMMERCE</a:t>
            </a:r>
          </a:p>
        </p:txBody>
      </p:sp>
      <p:sp>
        <p:nvSpPr>
          <p:cNvPr name="TextBox 4" id="4"/>
          <p:cNvSpPr txBox="true"/>
          <p:nvPr/>
        </p:nvSpPr>
        <p:spPr>
          <a:xfrm rot="0">
            <a:off x="2367143" y="4869571"/>
            <a:ext cx="2395337" cy="519370"/>
          </a:xfrm>
          <a:prstGeom prst="rect">
            <a:avLst/>
          </a:prstGeom>
        </p:spPr>
        <p:txBody>
          <a:bodyPr anchor="t" rtlCol="false" tIns="0" lIns="0" bIns="0" rIns="0">
            <a:spAutoFit/>
          </a:bodyPr>
          <a:lstStyle/>
          <a:p>
            <a:pPr algn="l">
              <a:lnSpc>
                <a:spcPts val="4158"/>
              </a:lnSpc>
            </a:pPr>
            <a:r>
              <a:rPr lang="en-US" sz="2970">
                <a:solidFill>
                  <a:srgbClr val="FFFFFF"/>
                </a:solidFill>
                <a:latin typeface="TT Drugs"/>
                <a:ea typeface="TT Drugs"/>
                <a:cs typeface="TT Drugs"/>
                <a:sym typeface="TT Drugs"/>
              </a:rPr>
              <a:t>Clahan Store</a:t>
            </a:r>
          </a:p>
        </p:txBody>
      </p:sp>
      <p:sp>
        <p:nvSpPr>
          <p:cNvPr name="TextBox 5" id="5"/>
          <p:cNvSpPr txBox="true"/>
          <p:nvPr/>
        </p:nvSpPr>
        <p:spPr>
          <a:xfrm rot="0">
            <a:off x="14640725" y="7665206"/>
            <a:ext cx="1707404" cy="2140688"/>
          </a:xfrm>
          <a:prstGeom prst="rect">
            <a:avLst/>
          </a:prstGeom>
        </p:spPr>
        <p:txBody>
          <a:bodyPr anchor="t" rtlCol="false" tIns="0" lIns="0" bIns="0" rIns="0">
            <a:spAutoFit/>
          </a:bodyPr>
          <a:lstStyle/>
          <a:p>
            <a:pPr algn="l">
              <a:lnSpc>
                <a:spcPts val="2421"/>
              </a:lnSpc>
            </a:pPr>
            <a:r>
              <a:rPr lang="en-US" sz="2189">
                <a:solidFill>
                  <a:srgbClr val="FFFFFF"/>
                </a:solidFill>
                <a:latin typeface="TT Drugs"/>
                <a:ea typeface="TT Drugs"/>
                <a:cs typeface="TT Drugs"/>
                <a:sym typeface="TT Drugs"/>
              </a:rPr>
              <a:t>Present by Vignesh Akash Ashutosh Suwetha Elzabeth Dhanigasree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31190" y="4634408"/>
            <a:ext cx="8181661" cy="967664"/>
          </a:xfrm>
          <a:prstGeom prst="rect">
            <a:avLst/>
          </a:prstGeom>
        </p:spPr>
        <p:txBody>
          <a:bodyPr anchor="t" rtlCol="false" tIns="0" lIns="0" bIns="0" rIns="0">
            <a:spAutoFit/>
          </a:bodyPr>
          <a:lstStyle/>
          <a:p>
            <a:pPr algn="l">
              <a:lnSpc>
                <a:spcPts val="7839"/>
              </a:lnSpc>
            </a:pPr>
            <a:r>
              <a:rPr lang="en-US" sz="5599">
                <a:solidFill>
                  <a:srgbClr val="FFFFFF"/>
                </a:solidFill>
                <a:latin typeface="TT Drugs"/>
                <a:ea typeface="TT Drugs"/>
                <a:cs typeface="TT Drugs"/>
                <a:sym typeface="TT Drugs"/>
              </a:rPr>
              <a:t>PROBLEM STATEMENT</a:t>
            </a:r>
          </a:p>
        </p:txBody>
      </p:sp>
      <p:sp>
        <p:nvSpPr>
          <p:cNvPr name="TextBox 4" id="4"/>
          <p:cNvSpPr txBox="true"/>
          <p:nvPr/>
        </p:nvSpPr>
        <p:spPr>
          <a:xfrm rot="0">
            <a:off x="10578036" y="527856"/>
            <a:ext cx="5626017" cy="130885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Modern e-commerce platforms require handling high traffic, scalability, and continuous availability</a:t>
            </a:r>
          </a:p>
        </p:txBody>
      </p:sp>
      <p:sp>
        <p:nvSpPr>
          <p:cNvPr name="TextBox 5" id="5"/>
          <p:cNvSpPr txBox="true"/>
          <p:nvPr/>
        </p:nvSpPr>
        <p:spPr>
          <a:xfrm rot="0">
            <a:off x="10578036" y="2397928"/>
            <a:ext cx="5371824" cy="43255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Managing multiple functionalities like:</a:t>
            </a:r>
          </a:p>
        </p:txBody>
      </p:sp>
      <p:sp>
        <p:nvSpPr>
          <p:cNvPr name="TextBox 6" id="6"/>
          <p:cNvSpPr txBox="true"/>
          <p:nvPr/>
        </p:nvSpPr>
        <p:spPr>
          <a:xfrm rot="0">
            <a:off x="10578036" y="2836078"/>
            <a:ext cx="71237" cy="1747009"/>
          </a:xfrm>
          <a:prstGeom prst="rect">
            <a:avLst/>
          </a:prstGeom>
        </p:spPr>
        <p:txBody>
          <a:bodyPr anchor="t" rtlCol="false" tIns="0" lIns="0" bIns="0" rIns="0">
            <a:spAutoFit/>
          </a:bodyPr>
          <a:lstStyle/>
          <a:p>
            <a:pPr algn="just">
              <a:lnSpc>
                <a:spcPts val="3449"/>
              </a:lnSpc>
            </a:pPr>
            <a:r>
              <a:rPr lang="en-US" sz="2499">
                <a:solidFill>
                  <a:srgbClr val="FFFFFF"/>
                </a:solidFill>
                <a:latin typeface="TT Interphases"/>
                <a:ea typeface="TT Interphases"/>
                <a:cs typeface="TT Interphases"/>
                <a:sym typeface="TT Interphases"/>
              </a:rPr>
              <a:t> </a:t>
            </a:r>
          </a:p>
          <a:p>
            <a:pPr algn="just">
              <a:lnSpc>
                <a:spcPts val="3449"/>
              </a:lnSpc>
            </a:pPr>
            <a:r>
              <a:rPr lang="en-US" sz="2499">
                <a:solidFill>
                  <a:srgbClr val="FFFFFF"/>
                </a:solidFill>
                <a:latin typeface="TT Interphases"/>
                <a:ea typeface="TT Interphases"/>
                <a:cs typeface="TT Interphases"/>
                <a:sym typeface="TT Interphases"/>
              </a:rPr>
              <a:t> </a:t>
            </a:r>
          </a:p>
          <a:p>
            <a:pPr algn="just">
              <a:lnSpc>
                <a:spcPts val="3449"/>
              </a:lnSpc>
            </a:pPr>
            <a:r>
              <a:rPr lang="en-US" sz="2499">
                <a:solidFill>
                  <a:srgbClr val="FFFFFF"/>
                </a:solidFill>
                <a:latin typeface="TT Interphases"/>
                <a:ea typeface="TT Interphases"/>
                <a:cs typeface="TT Interphases"/>
                <a:sym typeface="TT Interphases"/>
              </a:rPr>
              <a:t> </a:t>
            </a:r>
          </a:p>
          <a:p>
            <a:pPr algn="just">
              <a:lnSpc>
                <a:spcPts val="3449"/>
              </a:lnSpc>
            </a:pPr>
            <a:r>
              <a:rPr lang="en-US" sz="2499">
                <a:solidFill>
                  <a:srgbClr val="FFFFFF"/>
                </a:solidFill>
                <a:latin typeface="TT Interphases"/>
                <a:ea typeface="TT Interphases"/>
                <a:cs typeface="TT Interphases"/>
                <a:sym typeface="TT Interphases"/>
              </a:rPr>
              <a:t> </a:t>
            </a:r>
          </a:p>
        </p:txBody>
      </p:sp>
      <p:sp>
        <p:nvSpPr>
          <p:cNvPr name="TextBox 7" id="7"/>
          <p:cNvSpPr txBox="true"/>
          <p:nvPr/>
        </p:nvSpPr>
        <p:spPr>
          <a:xfrm rot="0">
            <a:off x="11066936" y="2836078"/>
            <a:ext cx="2660009" cy="43255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User management</a:t>
            </a:r>
          </a:p>
        </p:txBody>
      </p:sp>
      <p:sp>
        <p:nvSpPr>
          <p:cNvPr name="TextBox 8" id="8"/>
          <p:cNvSpPr txBox="true"/>
          <p:nvPr/>
        </p:nvSpPr>
        <p:spPr>
          <a:xfrm rot="0">
            <a:off x="11136878" y="3274228"/>
            <a:ext cx="4533195" cy="87070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Product catalog Orders, payments, and shipping</a:t>
            </a:r>
          </a:p>
        </p:txBody>
      </p:sp>
      <p:sp>
        <p:nvSpPr>
          <p:cNvPr name="TextBox 9" id="9"/>
          <p:cNvSpPr txBox="true"/>
          <p:nvPr/>
        </p:nvSpPr>
        <p:spPr>
          <a:xfrm rot="0">
            <a:off x="11206686" y="4150528"/>
            <a:ext cx="5224510" cy="43255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becomes complex in a single system</a:t>
            </a:r>
          </a:p>
        </p:txBody>
      </p:sp>
      <p:sp>
        <p:nvSpPr>
          <p:cNvPr name="TextBox 10" id="10"/>
          <p:cNvSpPr txBox="true"/>
          <p:nvPr/>
        </p:nvSpPr>
        <p:spPr>
          <a:xfrm rot="0">
            <a:off x="10578036" y="4808172"/>
            <a:ext cx="1113873" cy="699259"/>
          </a:xfrm>
          <a:prstGeom prst="rect">
            <a:avLst/>
          </a:prstGeom>
        </p:spPr>
        <p:txBody>
          <a:bodyPr anchor="t" rtlCol="false" tIns="0" lIns="0" bIns="0" rIns="0">
            <a:spAutoFit/>
          </a:bodyPr>
          <a:lstStyle/>
          <a:p>
            <a:pPr algn="l">
              <a:lnSpc>
                <a:spcPts val="6249"/>
              </a:lnSpc>
            </a:pPr>
            <a:r>
              <a:rPr lang="en-US" sz="2499">
                <a:solidFill>
                  <a:srgbClr val="FFFFFF"/>
                </a:solidFill>
                <a:latin typeface="TT Interphases"/>
                <a:ea typeface="TT Interphases"/>
                <a:cs typeface="TT Interphases"/>
                <a:sym typeface="TT Interphases"/>
              </a:rPr>
              <a:t>Lack of:</a:t>
            </a:r>
          </a:p>
        </p:txBody>
      </p:sp>
      <p:sp>
        <p:nvSpPr>
          <p:cNvPr name="TextBox 11" id="11"/>
          <p:cNvSpPr txBox="true"/>
          <p:nvPr/>
        </p:nvSpPr>
        <p:spPr>
          <a:xfrm rot="0">
            <a:off x="10578036" y="5722572"/>
            <a:ext cx="71237" cy="1099309"/>
          </a:xfrm>
          <a:prstGeom prst="rect">
            <a:avLst/>
          </a:prstGeom>
        </p:spPr>
        <p:txBody>
          <a:bodyPr anchor="t" rtlCol="false" tIns="0" lIns="0" bIns="0" rIns="0">
            <a:spAutoFit/>
          </a:bodyPr>
          <a:lstStyle/>
          <a:p>
            <a:pPr algn="just">
              <a:lnSpc>
                <a:spcPts val="1249"/>
              </a:lnSpc>
            </a:pPr>
            <a:r>
              <a:rPr lang="en-US" sz="2499">
                <a:solidFill>
                  <a:srgbClr val="000000"/>
                </a:solidFill>
                <a:latin typeface="TT Interphases"/>
                <a:ea typeface="TT Interphases"/>
                <a:cs typeface="TT Interphases"/>
                <a:sym typeface="TT Interphases"/>
              </a:rPr>
              <a:t> </a:t>
            </a:r>
          </a:p>
          <a:p>
            <a:pPr algn="just">
              <a:lnSpc>
                <a:spcPts val="5649"/>
              </a:lnSpc>
            </a:pPr>
            <a:r>
              <a:rPr lang="en-US" sz="2499">
                <a:solidFill>
                  <a:srgbClr val="000000"/>
                </a:solidFill>
                <a:latin typeface="TT Interphases"/>
                <a:ea typeface="TT Interphases"/>
                <a:cs typeface="TT Interphases"/>
                <a:sym typeface="TT Interphases"/>
              </a:rPr>
              <a:t> </a:t>
            </a:r>
          </a:p>
          <a:p>
            <a:pPr algn="just">
              <a:lnSpc>
                <a:spcPts val="1249"/>
              </a:lnSpc>
            </a:pPr>
            <a:r>
              <a:rPr lang="en-US" sz="2499">
                <a:solidFill>
                  <a:srgbClr val="000000"/>
                </a:solidFill>
                <a:latin typeface="TT Interphases"/>
                <a:ea typeface="TT Interphases"/>
                <a:cs typeface="TT Interphases"/>
                <a:sym typeface="TT Interphases"/>
              </a:rPr>
              <a:t> </a:t>
            </a:r>
          </a:p>
        </p:txBody>
      </p:sp>
      <p:sp>
        <p:nvSpPr>
          <p:cNvPr name="TextBox 12" id="12"/>
          <p:cNvSpPr txBox="true"/>
          <p:nvPr/>
        </p:nvSpPr>
        <p:spPr>
          <a:xfrm rot="0">
            <a:off x="11136878" y="5722572"/>
            <a:ext cx="4766329" cy="1099309"/>
          </a:xfrm>
          <a:prstGeom prst="rect">
            <a:avLst/>
          </a:prstGeom>
        </p:spPr>
        <p:txBody>
          <a:bodyPr anchor="t" rtlCol="false" tIns="0" lIns="0" bIns="0" rIns="0">
            <a:spAutoFit/>
          </a:bodyPr>
          <a:lstStyle/>
          <a:p>
            <a:pPr algn="l">
              <a:lnSpc>
                <a:spcPts val="1249"/>
              </a:lnSpc>
            </a:pPr>
            <a:r>
              <a:rPr lang="en-US" sz="2499">
                <a:solidFill>
                  <a:srgbClr val="FFFFFF"/>
                </a:solidFill>
                <a:latin typeface="TT Interphases"/>
                <a:ea typeface="TT Interphases"/>
                <a:cs typeface="TT Interphases"/>
                <a:sym typeface="TT Interphases"/>
              </a:rPr>
              <a:t>Independent service deployment</a:t>
            </a:r>
          </a:p>
          <a:p>
            <a:pPr algn="l">
              <a:lnSpc>
                <a:spcPts val="5649"/>
              </a:lnSpc>
            </a:pPr>
            <a:r>
              <a:rPr lang="en-US" sz="2499">
                <a:solidFill>
                  <a:srgbClr val="FFFFFF"/>
                </a:solidFill>
                <a:latin typeface="TT Interphases"/>
                <a:ea typeface="TT Interphases"/>
                <a:cs typeface="TT Interphases"/>
                <a:sym typeface="TT Interphases"/>
              </a:rPr>
              <a:t>Efficient resource utilization</a:t>
            </a:r>
          </a:p>
          <a:p>
            <a:pPr algn="l">
              <a:lnSpc>
                <a:spcPts val="1249"/>
              </a:lnSpc>
            </a:pPr>
            <a:r>
              <a:rPr lang="en-US" sz="2499">
                <a:solidFill>
                  <a:srgbClr val="FFFFFF"/>
                </a:solidFill>
                <a:latin typeface="TT Interphases"/>
                <a:ea typeface="TT Interphases"/>
                <a:cs typeface="TT Interphases"/>
                <a:sym typeface="TT Interphases"/>
              </a:rPr>
              <a:t>Cloud-native scalability</a:t>
            </a:r>
          </a:p>
        </p:txBody>
      </p:sp>
      <p:sp>
        <p:nvSpPr>
          <p:cNvPr name="TextBox 13" id="13"/>
          <p:cNvSpPr txBox="true"/>
          <p:nvPr/>
        </p:nvSpPr>
        <p:spPr>
          <a:xfrm rot="0">
            <a:off x="10578036" y="7409840"/>
            <a:ext cx="5067462" cy="87070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Traditional monolithic systems face challenges such as:</a:t>
            </a:r>
          </a:p>
        </p:txBody>
      </p:sp>
      <p:sp>
        <p:nvSpPr>
          <p:cNvPr name="TextBox 14" id="14"/>
          <p:cNvSpPr txBox="true"/>
          <p:nvPr/>
        </p:nvSpPr>
        <p:spPr>
          <a:xfrm rot="0">
            <a:off x="10578036" y="8286140"/>
            <a:ext cx="71237" cy="1308859"/>
          </a:xfrm>
          <a:prstGeom prst="rect">
            <a:avLst/>
          </a:prstGeom>
        </p:spPr>
        <p:txBody>
          <a:bodyPr anchor="t" rtlCol="false" tIns="0" lIns="0" bIns="0" rIns="0">
            <a:spAutoFit/>
          </a:bodyPr>
          <a:lstStyle/>
          <a:p>
            <a:pPr algn="just">
              <a:lnSpc>
                <a:spcPts val="3449"/>
              </a:lnSpc>
            </a:pPr>
            <a:r>
              <a:rPr lang="en-US" sz="2499">
                <a:solidFill>
                  <a:srgbClr val="000000"/>
                </a:solidFill>
                <a:latin typeface="TT Interphases"/>
                <a:ea typeface="TT Interphases"/>
                <a:cs typeface="TT Interphases"/>
                <a:sym typeface="TT Interphases"/>
              </a:rPr>
              <a:t> </a:t>
            </a:r>
          </a:p>
          <a:p>
            <a:pPr algn="just">
              <a:lnSpc>
                <a:spcPts val="3449"/>
              </a:lnSpc>
            </a:pPr>
            <a:r>
              <a:rPr lang="en-US" sz="2499">
                <a:solidFill>
                  <a:srgbClr val="000000"/>
                </a:solidFill>
                <a:latin typeface="TT Interphases"/>
                <a:ea typeface="TT Interphases"/>
                <a:cs typeface="TT Interphases"/>
                <a:sym typeface="TT Interphases"/>
              </a:rPr>
              <a:t> </a:t>
            </a:r>
          </a:p>
          <a:p>
            <a:pPr algn="just">
              <a:lnSpc>
                <a:spcPts val="3449"/>
              </a:lnSpc>
            </a:pPr>
            <a:r>
              <a:rPr lang="en-US" sz="2499">
                <a:solidFill>
                  <a:srgbClr val="FFFFFF"/>
                </a:solidFill>
                <a:latin typeface="TT Interphases"/>
                <a:ea typeface="TT Interphases"/>
                <a:cs typeface="TT Interphases"/>
                <a:sym typeface="TT Interphases"/>
              </a:rPr>
              <a:t> </a:t>
            </a:r>
          </a:p>
        </p:txBody>
      </p:sp>
      <p:sp>
        <p:nvSpPr>
          <p:cNvPr name="TextBox 15" id="15"/>
          <p:cNvSpPr txBox="true"/>
          <p:nvPr/>
        </p:nvSpPr>
        <p:spPr>
          <a:xfrm rot="0">
            <a:off x="11066936" y="8286140"/>
            <a:ext cx="4306529" cy="43255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Tight coupling of components</a:t>
            </a:r>
          </a:p>
        </p:txBody>
      </p:sp>
      <p:sp>
        <p:nvSpPr>
          <p:cNvPr name="TextBox 16" id="16"/>
          <p:cNvSpPr txBox="true"/>
          <p:nvPr/>
        </p:nvSpPr>
        <p:spPr>
          <a:xfrm rot="0">
            <a:off x="11136878" y="8724290"/>
            <a:ext cx="5026981" cy="870709"/>
          </a:xfrm>
          <a:prstGeom prst="rect">
            <a:avLst/>
          </a:prstGeom>
        </p:spPr>
        <p:txBody>
          <a:bodyPr anchor="t" rtlCol="false" tIns="0" lIns="0" bIns="0" rIns="0">
            <a:spAutoFit/>
          </a:bodyPr>
          <a:lstStyle/>
          <a:p>
            <a:pPr algn="l">
              <a:lnSpc>
                <a:spcPts val="3449"/>
              </a:lnSpc>
            </a:pPr>
            <a:r>
              <a:rPr lang="en-US" sz="2499">
                <a:solidFill>
                  <a:srgbClr val="FFFFFF"/>
                </a:solidFill>
                <a:latin typeface="TT Interphases"/>
                <a:ea typeface="TT Interphases"/>
                <a:cs typeface="TT Interphases"/>
                <a:sym typeface="TT Interphases"/>
              </a:rPr>
              <a:t>Difficult scalability and deployment Single point of failure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69447" y="1815903"/>
            <a:ext cx="13716000" cy="8467725"/>
            <a:chOff x="0" y="0"/>
            <a:chExt cx="18288000" cy="11290300"/>
          </a:xfrm>
        </p:grpSpPr>
        <p:sp>
          <p:nvSpPr>
            <p:cNvPr name="Freeform 4" id="4"/>
            <p:cNvSpPr/>
            <p:nvPr/>
          </p:nvSpPr>
          <p:spPr>
            <a:xfrm flipH="false" flipV="false" rot="0">
              <a:off x="0" y="0"/>
              <a:ext cx="18288000" cy="11290300"/>
            </a:xfrm>
            <a:custGeom>
              <a:avLst/>
              <a:gdLst/>
              <a:ahLst/>
              <a:cxnLst/>
              <a:rect r="r" b="b" t="t" l="l"/>
              <a:pathLst>
                <a:path h="11290300" w="18288000">
                  <a:moveTo>
                    <a:pt x="0" y="0"/>
                  </a:moveTo>
                  <a:lnTo>
                    <a:pt x="18288000" y="0"/>
                  </a:lnTo>
                  <a:lnTo>
                    <a:pt x="18288000" y="11290300"/>
                  </a:lnTo>
                  <a:lnTo>
                    <a:pt x="0" y="11290300"/>
                  </a:lnTo>
                  <a:lnTo>
                    <a:pt x="0" y="0"/>
                  </a:lnTo>
                  <a:close/>
                </a:path>
              </a:pathLst>
            </a:custGeom>
            <a:blipFill>
              <a:blip r:embed="rId4"/>
              <a:stretch>
                <a:fillRect l="0" t="-4252" r="-486" b="-4296"/>
              </a:stretch>
            </a:blipFill>
          </p:spPr>
        </p:sp>
      </p:grpSp>
      <p:sp>
        <p:nvSpPr>
          <p:cNvPr name="TextBox 5" id="5"/>
          <p:cNvSpPr txBox="true"/>
          <p:nvPr/>
        </p:nvSpPr>
        <p:spPr>
          <a:xfrm rot="0">
            <a:off x="495738" y="269977"/>
            <a:ext cx="4521051" cy="1575768"/>
          </a:xfrm>
          <a:prstGeom prst="rect">
            <a:avLst/>
          </a:prstGeom>
        </p:spPr>
        <p:txBody>
          <a:bodyPr anchor="t" rtlCol="false" tIns="0" lIns="0" bIns="0" rIns="0">
            <a:spAutoFit/>
          </a:bodyPr>
          <a:lstStyle/>
          <a:p>
            <a:pPr algn="l">
              <a:lnSpc>
                <a:spcPts val="6198"/>
              </a:lnSpc>
            </a:pPr>
            <a:r>
              <a:rPr lang="en-US" sz="5174">
                <a:solidFill>
                  <a:srgbClr val="FFFFFF"/>
                </a:solidFill>
                <a:latin typeface="TT Drugs"/>
                <a:ea typeface="TT Drugs"/>
                <a:cs typeface="TT Drugs"/>
                <a:sym typeface="TT Drugs"/>
              </a:rPr>
              <a:t>APPLICATION Architecture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8934450" cy="10287000"/>
            <a:chOff x="0" y="0"/>
            <a:chExt cx="11912600" cy="13716000"/>
          </a:xfrm>
        </p:grpSpPr>
        <p:sp>
          <p:nvSpPr>
            <p:cNvPr name="Freeform 4" id="4"/>
            <p:cNvSpPr/>
            <p:nvPr/>
          </p:nvSpPr>
          <p:spPr>
            <a:xfrm flipH="false" flipV="false" rot="0">
              <a:off x="0" y="0"/>
              <a:ext cx="11912600" cy="13716000"/>
            </a:xfrm>
            <a:custGeom>
              <a:avLst/>
              <a:gdLst/>
              <a:ahLst/>
              <a:cxnLst/>
              <a:rect r="r" b="b" t="t" l="l"/>
              <a:pathLst>
                <a:path h="13716000" w="11912600">
                  <a:moveTo>
                    <a:pt x="0" y="0"/>
                  </a:moveTo>
                  <a:lnTo>
                    <a:pt x="11912600" y="0"/>
                  </a:lnTo>
                  <a:lnTo>
                    <a:pt x="11912600" y="13716000"/>
                  </a:lnTo>
                  <a:lnTo>
                    <a:pt x="0" y="13716000"/>
                  </a:lnTo>
                  <a:lnTo>
                    <a:pt x="0" y="0"/>
                  </a:lnTo>
                  <a:close/>
                </a:path>
              </a:pathLst>
            </a:custGeom>
            <a:blipFill>
              <a:blip r:embed="rId4"/>
              <a:stretch>
                <a:fillRect l="0" t="0" r="0" b="-3611"/>
              </a:stretch>
            </a:blipFill>
          </p:spPr>
        </p:sp>
      </p:grpSp>
      <p:sp>
        <p:nvSpPr>
          <p:cNvPr name="TextBox 5" id="5"/>
          <p:cNvSpPr txBox="true"/>
          <p:nvPr/>
        </p:nvSpPr>
        <p:spPr>
          <a:xfrm rot="0">
            <a:off x="9994402" y="3411588"/>
            <a:ext cx="7105907" cy="2752725"/>
          </a:xfrm>
          <a:prstGeom prst="rect">
            <a:avLst/>
          </a:prstGeom>
        </p:spPr>
        <p:txBody>
          <a:bodyPr anchor="t" rtlCol="false" tIns="0" lIns="0" bIns="0" rIns="0">
            <a:spAutoFit/>
          </a:bodyPr>
          <a:lstStyle/>
          <a:p>
            <a:pPr algn="ctr">
              <a:lnSpc>
                <a:spcPts val="10800"/>
              </a:lnSpc>
            </a:pPr>
            <a:r>
              <a:rPr lang="en-US" sz="9000">
                <a:solidFill>
                  <a:srgbClr val="FFFFFF"/>
                </a:solidFill>
                <a:latin typeface="TT Drugs"/>
                <a:ea typeface="TT Drugs"/>
                <a:cs typeface="TT Drugs"/>
                <a:sym typeface="TT Drugs"/>
              </a:rPr>
              <a:t>DATABASE Architecture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95778" y="1332906"/>
            <a:ext cx="11888091" cy="7925394"/>
          </a:xfrm>
          <a:custGeom>
            <a:avLst/>
            <a:gdLst/>
            <a:ahLst/>
            <a:cxnLst/>
            <a:rect r="r" b="b" t="t" l="l"/>
            <a:pathLst>
              <a:path h="7925394" w="11888091">
                <a:moveTo>
                  <a:pt x="0" y="0"/>
                </a:moveTo>
                <a:lnTo>
                  <a:pt x="11888091" y="0"/>
                </a:lnTo>
                <a:lnTo>
                  <a:pt x="11888091" y="7925394"/>
                </a:lnTo>
                <a:lnTo>
                  <a:pt x="0" y="7925394"/>
                </a:lnTo>
                <a:lnTo>
                  <a:pt x="0" y="0"/>
                </a:lnTo>
                <a:close/>
              </a:path>
            </a:pathLst>
          </a:custGeom>
          <a:blipFill>
            <a:blip r:embed="rId4"/>
            <a:stretch>
              <a:fillRect l="0" t="0" r="0" b="0"/>
            </a:stretch>
          </a:blipFill>
        </p:spPr>
      </p:sp>
      <p:sp>
        <p:nvSpPr>
          <p:cNvPr name="TextBox 4" id="4"/>
          <p:cNvSpPr txBox="true"/>
          <p:nvPr/>
        </p:nvSpPr>
        <p:spPr>
          <a:xfrm rot="0">
            <a:off x="477002" y="3723608"/>
            <a:ext cx="5015122" cy="1945586"/>
          </a:xfrm>
          <a:prstGeom prst="rect">
            <a:avLst/>
          </a:prstGeom>
        </p:spPr>
        <p:txBody>
          <a:bodyPr anchor="t" rtlCol="false" tIns="0" lIns="0" bIns="0" rIns="0">
            <a:spAutoFit/>
          </a:bodyPr>
          <a:lstStyle/>
          <a:p>
            <a:pPr algn="l">
              <a:lnSpc>
                <a:spcPts val="7622"/>
              </a:lnSpc>
            </a:pPr>
            <a:r>
              <a:rPr lang="en-US" sz="6351">
                <a:solidFill>
                  <a:srgbClr val="FFFFFF"/>
                </a:solidFill>
                <a:latin typeface="TT Drugs"/>
                <a:ea typeface="TT Drugs"/>
                <a:cs typeface="TT Drugs"/>
                <a:sym typeface="TT Drugs"/>
              </a:rPr>
              <a:t>DevOps 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605955" y="3153"/>
            <a:ext cx="6682045" cy="10283847"/>
            <a:chOff x="0" y="0"/>
            <a:chExt cx="8909393" cy="13711796"/>
          </a:xfrm>
        </p:grpSpPr>
        <p:sp>
          <p:nvSpPr>
            <p:cNvPr name="Freeform 4" id="4"/>
            <p:cNvSpPr/>
            <p:nvPr/>
          </p:nvSpPr>
          <p:spPr>
            <a:xfrm flipH="false" flipV="false" rot="0">
              <a:off x="0" y="0"/>
              <a:ext cx="8909431" cy="13711810"/>
            </a:xfrm>
            <a:custGeom>
              <a:avLst/>
              <a:gdLst/>
              <a:ahLst/>
              <a:cxnLst/>
              <a:rect r="r" b="b" t="t" l="l"/>
              <a:pathLst>
                <a:path h="13711810" w="8909431">
                  <a:moveTo>
                    <a:pt x="0" y="0"/>
                  </a:moveTo>
                  <a:lnTo>
                    <a:pt x="8909431" y="0"/>
                  </a:lnTo>
                  <a:lnTo>
                    <a:pt x="8909431" y="13711810"/>
                  </a:lnTo>
                  <a:lnTo>
                    <a:pt x="0" y="13711810"/>
                  </a:lnTo>
                  <a:lnTo>
                    <a:pt x="0" y="0"/>
                  </a:lnTo>
                  <a:close/>
                </a:path>
              </a:pathLst>
            </a:custGeom>
            <a:blipFill>
              <a:blip r:embed="rId4"/>
              <a:stretch>
                <a:fillRect l="0" t="0" r="-66" b="-123"/>
              </a:stretch>
            </a:blipFill>
          </p:spPr>
        </p:sp>
      </p:grpSp>
      <p:sp>
        <p:nvSpPr>
          <p:cNvPr name="TextBox 5" id="5"/>
          <p:cNvSpPr txBox="true"/>
          <p:nvPr/>
        </p:nvSpPr>
        <p:spPr>
          <a:xfrm rot="-5400000">
            <a:off x="6356252" y="4654506"/>
            <a:ext cx="8866222" cy="1237431"/>
          </a:xfrm>
          <a:prstGeom prst="rect">
            <a:avLst/>
          </a:prstGeom>
        </p:spPr>
        <p:txBody>
          <a:bodyPr anchor="t" rtlCol="false" tIns="0" lIns="0" bIns="0" rIns="0">
            <a:spAutoFit/>
          </a:bodyPr>
          <a:lstStyle/>
          <a:p>
            <a:pPr algn="l">
              <a:lnSpc>
                <a:spcPts val="10054"/>
              </a:lnSpc>
            </a:pPr>
            <a:r>
              <a:rPr lang="en-US" sz="7182">
                <a:solidFill>
                  <a:srgbClr val="FFFFFF"/>
                </a:solidFill>
                <a:latin typeface="TT Drugs"/>
                <a:ea typeface="TT Drugs"/>
                <a:cs typeface="TT Drugs"/>
                <a:sym typeface="TT Drugs"/>
              </a:rPr>
              <a:t>List Of Manifest File</a:t>
            </a:r>
          </a:p>
        </p:txBody>
      </p:sp>
      <p:sp>
        <p:nvSpPr>
          <p:cNvPr name="TextBox 6" id="6"/>
          <p:cNvSpPr txBox="true"/>
          <p:nvPr/>
        </p:nvSpPr>
        <p:spPr>
          <a:xfrm rot="0">
            <a:off x="470468" y="1009126"/>
            <a:ext cx="5698388" cy="618306"/>
          </a:xfrm>
          <a:prstGeom prst="rect">
            <a:avLst/>
          </a:prstGeom>
        </p:spPr>
        <p:txBody>
          <a:bodyPr anchor="t" rtlCol="false" tIns="0" lIns="0" bIns="0" rIns="0">
            <a:spAutoFit/>
          </a:bodyPr>
          <a:lstStyle/>
          <a:p>
            <a:pPr algn="l">
              <a:lnSpc>
                <a:spcPts val="3591"/>
              </a:lnSpc>
            </a:pPr>
            <a:r>
              <a:rPr lang="en-US" sz="7182">
                <a:solidFill>
                  <a:srgbClr val="FFFFFF"/>
                </a:solidFill>
                <a:latin typeface="TT Drugs"/>
                <a:ea typeface="TT Drugs"/>
                <a:cs typeface="TT Drugs"/>
                <a:sym typeface="TT Drugs"/>
              </a:rPr>
              <a:t>Manifest File</a:t>
            </a:r>
          </a:p>
        </p:txBody>
      </p:sp>
      <p:sp>
        <p:nvSpPr>
          <p:cNvPr name="TextBox 7" id="7"/>
          <p:cNvSpPr txBox="true"/>
          <p:nvPr/>
        </p:nvSpPr>
        <p:spPr>
          <a:xfrm rot="0">
            <a:off x="1282456" y="1737103"/>
            <a:ext cx="96164" cy="861927"/>
          </a:xfrm>
          <a:prstGeom prst="rect">
            <a:avLst/>
          </a:prstGeom>
        </p:spPr>
        <p:txBody>
          <a:bodyPr anchor="t" rtlCol="false" tIns="0" lIns="0" bIns="0" rIns="0">
            <a:spAutoFit/>
          </a:bodyPr>
          <a:lstStyle/>
          <a:p>
            <a:pPr algn="l">
              <a:lnSpc>
                <a:spcPts val="7732"/>
              </a:lnSpc>
            </a:pPr>
            <a:r>
              <a:rPr lang="en-US" sz="3093">
                <a:solidFill>
                  <a:srgbClr val="FFFFFF"/>
                </a:solidFill>
                <a:latin typeface="TT Drugs"/>
                <a:ea typeface="TT Drugs"/>
                <a:cs typeface="TT Drugs"/>
                <a:sym typeface="TT Drugs"/>
              </a:rPr>
              <a:t> </a:t>
            </a:r>
          </a:p>
        </p:txBody>
      </p:sp>
      <p:sp>
        <p:nvSpPr>
          <p:cNvPr name="TextBox 8" id="8"/>
          <p:cNvSpPr txBox="true"/>
          <p:nvPr/>
        </p:nvSpPr>
        <p:spPr>
          <a:xfrm rot="0">
            <a:off x="1009450" y="2146678"/>
            <a:ext cx="8919105" cy="452352"/>
          </a:xfrm>
          <a:prstGeom prst="rect">
            <a:avLst/>
          </a:prstGeom>
        </p:spPr>
        <p:txBody>
          <a:bodyPr anchor="t" rtlCol="false" tIns="0" lIns="0" bIns="0" rIns="0">
            <a:spAutoFit/>
          </a:bodyPr>
          <a:lstStyle/>
          <a:p>
            <a:pPr algn="l">
              <a:lnSpc>
                <a:spcPts val="3411"/>
              </a:lnSpc>
            </a:pPr>
            <a:r>
              <a:rPr lang="en-US" sz="3093">
                <a:solidFill>
                  <a:srgbClr val="FFFFFF"/>
                </a:solidFill>
                <a:latin typeface="TT Drugs"/>
                <a:ea typeface="TT Drugs"/>
                <a:cs typeface="TT Drugs"/>
                <a:sym typeface="TT Drugs"/>
              </a:rPr>
              <a:t>Amanifestfile tells kuberneteswhat to create,</a:t>
            </a:r>
          </a:p>
        </p:txBody>
      </p:sp>
      <p:sp>
        <p:nvSpPr>
          <p:cNvPr name="TextBox 9" id="9"/>
          <p:cNvSpPr txBox="true"/>
          <p:nvPr/>
        </p:nvSpPr>
        <p:spPr>
          <a:xfrm rot="0">
            <a:off x="1009450" y="2580132"/>
            <a:ext cx="8360159" cy="452352"/>
          </a:xfrm>
          <a:prstGeom prst="rect">
            <a:avLst/>
          </a:prstGeom>
        </p:spPr>
        <p:txBody>
          <a:bodyPr anchor="t" rtlCol="false" tIns="0" lIns="0" bIns="0" rIns="0">
            <a:spAutoFit/>
          </a:bodyPr>
          <a:lstStyle/>
          <a:p>
            <a:pPr algn="l">
              <a:lnSpc>
                <a:spcPts val="3411"/>
              </a:lnSpc>
            </a:pPr>
            <a:r>
              <a:rPr lang="en-US" sz="3093">
                <a:solidFill>
                  <a:srgbClr val="FFFFFF"/>
                </a:solidFill>
                <a:latin typeface="TT Drugs"/>
                <a:ea typeface="TT Drugs"/>
                <a:cs typeface="TT Drugs"/>
                <a:sym typeface="TT Drugs"/>
              </a:rPr>
              <a:t>how it should run, and how it should behave</a:t>
            </a:r>
          </a:p>
        </p:txBody>
      </p:sp>
      <p:sp>
        <p:nvSpPr>
          <p:cNvPr name="TextBox 10" id="10"/>
          <p:cNvSpPr txBox="true"/>
          <p:nvPr/>
        </p:nvSpPr>
        <p:spPr>
          <a:xfrm rot="0">
            <a:off x="1555696" y="3914424"/>
            <a:ext cx="6425815" cy="4601888"/>
          </a:xfrm>
          <a:prstGeom prst="rect">
            <a:avLst/>
          </a:prstGeom>
        </p:spPr>
        <p:txBody>
          <a:bodyPr anchor="t" rtlCol="false" tIns="0" lIns="0" bIns="0" rIns="0">
            <a:spAutoFit/>
          </a:bodyPr>
          <a:lstStyle/>
          <a:p>
            <a:pPr algn="l">
              <a:lnSpc>
                <a:spcPts val="5271"/>
              </a:lnSpc>
            </a:pPr>
            <a:r>
              <a:rPr lang="en-US" sz="2388">
                <a:solidFill>
                  <a:srgbClr val="FFFFFF"/>
                </a:solidFill>
                <a:latin typeface="TT Drugs"/>
                <a:ea typeface="TT Drugs"/>
                <a:cs typeface="TT Drugs"/>
                <a:sym typeface="TT Drugs"/>
              </a:rPr>
              <a:t>Ex</a:t>
            </a:r>
            <a:r>
              <a:rPr lang="en-US" sz="2388">
                <a:solidFill>
                  <a:srgbClr val="FFFFFF"/>
                </a:solidFill>
                <a:latin typeface="TT Drugs"/>
                <a:ea typeface="TT Drugs"/>
                <a:cs typeface="TT Drugs"/>
                <a:sym typeface="TT Drugs"/>
              </a:rPr>
              <a:t>ample </a:t>
            </a:r>
          </a:p>
          <a:p>
            <a:pPr algn="l">
              <a:lnSpc>
                <a:spcPts val="5271"/>
              </a:lnSpc>
            </a:pPr>
            <a:r>
              <a:rPr lang="en-US" sz="2388">
                <a:solidFill>
                  <a:srgbClr val="FFFFFF"/>
                </a:solidFill>
                <a:latin typeface="TT Drugs"/>
                <a:ea typeface="TT Drugs"/>
                <a:cs typeface="TT Drugs"/>
                <a:sym typeface="TT Drugs"/>
              </a:rPr>
              <a:t> Instead of saying: "Run my application somehow" We say in a manifest file: What application image to run How many replicas Which port it uses How it should be exposed How it should scale Where to store data This is why Kubernetes is called declarative.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0468" y="1009126"/>
            <a:ext cx="5698388" cy="618306"/>
          </a:xfrm>
          <a:prstGeom prst="rect">
            <a:avLst/>
          </a:prstGeom>
        </p:spPr>
        <p:txBody>
          <a:bodyPr anchor="t" rtlCol="false" tIns="0" lIns="0" bIns="0" rIns="0">
            <a:spAutoFit/>
          </a:bodyPr>
          <a:lstStyle/>
          <a:p>
            <a:pPr algn="l">
              <a:lnSpc>
                <a:spcPts val="3591"/>
              </a:lnSpc>
            </a:pPr>
            <a:r>
              <a:rPr lang="en-US" sz="7182">
                <a:solidFill>
                  <a:srgbClr val="FFFFFF"/>
                </a:solidFill>
                <a:latin typeface="TT Drugs"/>
                <a:ea typeface="TT Drugs"/>
                <a:cs typeface="TT Drugs"/>
                <a:sym typeface="TT Drugs"/>
              </a:rPr>
              <a:t>Manifest File</a:t>
            </a:r>
          </a:p>
        </p:txBody>
      </p:sp>
      <p:sp>
        <p:nvSpPr>
          <p:cNvPr name="TextBox 4" id="4"/>
          <p:cNvSpPr txBox="true"/>
          <p:nvPr/>
        </p:nvSpPr>
        <p:spPr>
          <a:xfrm rot="0">
            <a:off x="2147221" y="2089728"/>
            <a:ext cx="61741" cy="550307"/>
          </a:xfrm>
          <a:prstGeom prst="rect">
            <a:avLst/>
          </a:prstGeom>
        </p:spPr>
        <p:txBody>
          <a:bodyPr anchor="t" rtlCol="false" tIns="0" lIns="0" bIns="0" rIns="0">
            <a:spAutoFit/>
          </a:bodyPr>
          <a:lstStyle/>
          <a:p>
            <a:pPr algn="l">
              <a:lnSpc>
                <a:spcPts val="4964"/>
              </a:lnSpc>
            </a:pPr>
            <a:r>
              <a:rPr lang="en-US" sz="1985">
                <a:solidFill>
                  <a:srgbClr val="FFFFFF"/>
                </a:solidFill>
                <a:latin typeface="TT Drugs"/>
                <a:ea typeface="TT Drugs"/>
                <a:cs typeface="TT Drugs"/>
                <a:sym typeface="TT Drugs"/>
              </a:rPr>
              <a:t> </a:t>
            </a:r>
          </a:p>
        </p:txBody>
      </p:sp>
      <p:sp>
        <p:nvSpPr>
          <p:cNvPr name="TextBox 5" id="5"/>
          <p:cNvSpPr txBox="true"/>
          <p:nvPr/>
        </p:nvSpPr>
        <p:spPr>
          <a:xfrm rot="0">
            <a:off x="1028700" y="2146878"/>
            <a:ext cx="6473638" cy="7728785"/>
          </a:xfrm>
          <a:prstGeom prst="rect">
            <a:avLst/>
          </a:prstGeom>
        </p:spPr>
        <p:txBody>
          <a:bodyPr anchor="t" rtlCol="false" tIns="0" lIns="0" bIns="0" rIns="0">
            <a:spAutoFit/>
          </a:bodyPr>
          <a:lstStyle/>
          <a:p>
            <a:pPr algn="l">
              <a:lnSpc>
                <a:spcPts val="4382"/>
              </a:lnSpc>
            </a:pPr>
            <a:r>
              <a:rPr lang="en-US" sz="1985">
                <a:solidFill>
                  <a:srgbClr val="FFFFFF"/>
                </a:solidFill>
                <a:latin typeface="TT Drugs"/>
                <a:ea typeface="TT Drugs"/>
                <a:cs typeface="TT Drugs"/>
                <a:sym typeface="TT Drugs"/>
              </a:rPr>
              <a:t>Manifest: namespace.yaml Purpose: Logical isolation for the entire e-commerce platform Keeps all microservices together Manifests: deployment.yaml (for each microservice) Why Deployment? Microservices are stateless Pods can be recreated any time Kubernetes can scale them horizontally Manifests: service.yaml Why Services are needed: Pods have dynamic IPs Services provide stable networking ConfigMaps &amp; Secrets</a:t>
            </a:r>
          </a:p>
        </p:txBody>
      </p:sp>
      <p:sp>
        <p:nvSpPr>
          <p:cNvPr name="TextBox 6" id="6"/>
          <p:cNvSpPr txBox="true"/>
          <p:nvPr/>
        </p:nvSpPr>
        <p:spPr>
          <a:xfrm rot="0">
            <a:off x="7806090" y="-68370"/>
            <a:ext cx="4214612" cy="7297283"/>
          </a:xfrm>
          <a:prstGeom prst="rect">
            <a:avLst/>
          </a:prstGeom>
        </p:spPr>
        <p:txBody>
          <a:bodyPr anchor="t" rtlCol="false" tIns="0" lIns="0" bIns="0" rIns="0">
            <a:spAutoFit/>
          </a:bodyPr>
          <a:lstStyle/>
          <a:p>
            <a:pPr algn="l">
              <a:lnSpc>
                <a:spcPts val="4137"/>
              </a:lnSpc>
            </a:pPr>
            <a:r>
              <a:rPr lang="en-US" sz="1874">
                <a:solidFill>
                  <a:srgbClr val="FFFFFF"/>
                </a:solidFill>
                <a:latin typeface="TT Drugs"/>
                <a:ea typeface="TT Drugs"/>
                <a:cs typeface="TT Drugs"/>
                <a:sym typeface="TT Drugs"/>
              </a:rPr>
              <a:t>Manifests: configmap.yaml secrets.yaml ConfigMap: Non-sensitive configuration Example. Service URLs Port numbers Secrets: Sensitive data Example: MongoDB connection URI Credentials Manifests: -mongo-statefulset.yaml</a:t>
            </a:r>
          </a:p>
        </p:txBody>
      </p:sp>
      <p:sp>
        <p:nvSpPr>
          <p:cNvPr name="TextBox 7" id="7"/>
          <p:cNvSpPr txBox="true"/>
          <p:nvPr/>
        </p:nvSpPr>
        <p:spPr>
          <a:xfrm rot="0">
            <a:off x="12547825" y="4271401"/>
            <a:ext cx="5855065" cy="5732516"/>
          </a:xfrm>
          <a:prstGeom prst="rect">
            <a:avLst/>
          </a:prstGeom>
        </p:spPr>
        <p:txBody>
          <a:bodyPr anchor="t" rtlCol="false" tIns="0" lIns="0" bIns="0" rIns="0">
            <a:spAutoFit/>
          </a:bodyPr>
          <a:lstStyle/>
          <a:p>
            <a:pPr algn="l">
              <a:lnSpc>
                <a:spcPts val="4146"/>
              </a:lnSpc>
            </a:pPr>
            <a:r>
              <a:rPr lang="en-US" sz="1878">
                <a:solidFill>
                  <a:srgbClr val="FFFFFF"/>
                </a:solidFill>
                <a:latin typeface="TT Drugs"/>
                <a:ea typeface="TT Drugs"/>
                <a:cs typeface="TT Drugs"/>
                <a:sym typeface="TT Drugs"/>
              </a:rPr>
              <a:t>Why StatefulSet instead of Deployment? Databases are stateful Need. Stable pod identity Persistent storage IST, IN)... ) Manifest: hpa.yanl Why HPA? Automatically scales services based on CPU usage Handles traffic spikes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57339" y="1958940"/>
            <a:ext cx="17125950" cy="7829550"/>
            <a:chOff x="0" y="0"/>
            <a:chExt cx="22834600" cy="10439400"/>
          </a:xfrm>
        </p:grpSpPr>
        <p:sp>
          <p:nvSpPr>
            <p:cNvPr name="Freeform 4" id="4"/>
            <p:cNvSpPr/>
            <p:nvPr/>
          </p:nvSpPr>
          <p:spPr>
            <a:xfrm flipH="false" flipV="false" rot="0">
              <a:off x="0" y="0"/>
              <a:ext cx="22834600" cy="10439400"/>
            </a:xfrm>
            <a:custGeom>
              <a:avLst/>
              <a:gdLst/>
              <a:ahLst/>
              <a:cxnLst/>
              <a:rect r="r" b="b" t="t" l="l"/>
              <a:pathLst>
                <a:path h="10439400" w="22834600">
                  <a:moveTo>
                    <a:pt x="0" y="0"/>
                  </a:moveTo>
                  <a:lnTo>
                    <a:pt x="22834600" y="0"/>
                  </a:lnTo>
                  <a:lnTo>
                    <a:pt x="22834600" y="10439400"/>
                  </a:lnTo>
                  <a:lnTo>
                    <a:pt x="0" y="10439400"/>
                  </a:lnTo>
                  <a:lnTo>
                    <a:pt x="0" y="0"/>
                  </a:lnTo>
                  <a:close/>
                </a:path>
              </a:pathLst>
            </a:custGeom>
            <a:blipFill>
              <a:blip r:embed="rId4"/>
              <a:stretch>
                <a:fillRect l="0" t="0" r="0" b="0"/>
              </a:stretch>
            </a:blipFill>
          </p:spPr>
        </p:sp>
      </p:grpSp>
      <p:sp>
        <p:nvSpPr>
          <p:cNvPr name="TextBox 5" id="5"/>
          <p:cNvSpPr txBox="true"/>
          <p:nvPr/>
        </p:nvSpPr>
        <p:spPr>
          <a:xfrm rot="0">
            <a:off x="657339" y="377761"/>
            <a:ext cx="6440205" cy="1240155"/>
          </a:xfrm>
          <a:prstGeom prst="rect">
            <a:avLst/>
          </a:prstGeom>
        </p:spPr>
        <p:txBody>
          <a:bodyPr anchor="t" rtlCol="false" tIns="0" lIns="0" bIns="0" rIns="0">
            <a:spAutoFit/>
          </a:bodyPr>
          <a:lstStyle/>
          <a:p>
            <a:pPr algn="l">
              <a:lnSpc>
                <a:spcPts val="10080"/>
              </a:lnSpc>
            </a:pPr>
            <a:r>
              <a:rPr lang="en-US" sz="7200">
                <a:solidFill>
                  <a:srgbClr val="FFFFFF"/>
                </a:solidFill>
                <a:latin typeface="TT Drugs"/>
                <a:ea typeface="TT Drugs"/>
                <a:cs typeface="TT Drugs"/>
                <a:sym typeface="TT Drugs"/>
              </a:rPr>
              <a:t>Kubectl get all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75996" y="1492263"/>
            <a:ext cx="17173575" cy="8458200"/>
            <a:chOff x="0" y="0"/>
            <a:chExt cx="22898100" cy="11277600"/>
          </a:xfrm>
        </p:grpSpPr>
        <p:sp>
          <p:nvSpPr>
            <p:cNvPr name="Freeform 4" id="4"/>
            <p:cNvSpPr/>
            <p:nvPr/>
          </p:nvSpPr>
          <p:spPr>
            <a:xfrm flipH="false" flipV="false" rot="0">
              <a:off x="0" y="0"/>
              <a:ext cx="22898100" cy="11277600"/>
            </a:xfrm>
            <a:custGeom>
              <a:avLst/>
              <a:gdLst/>
              <a:ahLst/>
              <a:cxnLst/>
              <a:rect r="r" b="b" t="t" l="l"/>
              <a:pathLst>
                <a:path h="11277600" w="22898100">
                  <a:moveTo>
                    <a:pt x="0" y="0"/>
                  </a:moveTo>
                  <a:lnTo>
                    <a:pt x="22898100" y="0"/>
                  </a:lnTo>
                  <a:lnTo>
                    <a:pt x="22898100" y="11277600"/>
                  </a:lnTo>
                  <a:lnTo>
                    <a:pt x="0" y="11277600"/>
                  </a:lnTo>
                  <a:lnTo>
                    <a:pt x="0" y="0"/>
                  </a:lnTo>
                  <a:close/>
                </a:path>
              </a:pathLst>
            </a:custGeom>
            <a:blipFill>
              <a:blip r:embed="rId4"/>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83771" y="1228134"/>
            <a:ext cx="16916400" cy="8610600"/>
            <a:chOff x="0" y="0"/>
            <a:chExt cx="22555200" cy="11480800"/>
          </a:xfrm>
        </p:grpSpPr>
        <p:sp>
          <p:nvSpPr>
            <p:cNvPr name="Freeform 4" id="4"/>
            <p:cNvSpPr/>
            <p:nvPr/>
          </p:nvSpPr>
          <p:spPr>
            <a:xfrm flipH="false" flipV="false" rot="0">
              <a:off x="0" y="0"/>
              <a:ext cx="22555200" cy="11480800"/>
            </a:xfrm>
            <a:custGeom>
              <a:avLst/>
              <a:gdLst/>
              <a:ahLst/>
              <a:cxnLst/>
              <a:rect r="r" b="b" t="t" l="l"/>
              <a:pathLst>
                <a:path h="11480800" w="22555200">
                  <a:moveTo>
                    <a:pt x="0" y="0"/>
                  </a:moveTo>
                  <a:lnTo>
                    <a:pt x="22555200" y="0"/>
                  </a:lnTo>
                  <a:lnTo>
                    <a:pt x="22555200" y="11480800"/>
                  </a:lnTo>
                  <a:lnTo>
                    <a:pt x="0" y="11480800"/>
                  </a:lnTo>
                  <a:lnTo>
                    <a:pt x="0" y="0"/>
                  </a:lnTo>
                  <a:close/>
                </a:path>
              </a:pathLst>
            </a:custGeom>
            <a:blipFill>
              <a:blip r:embed="rId4"/>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951625" y="0"/>
            <a:ext cx="9525" cy="10287000"/>
          </a:xfrm>
          <a:custGeom>
            <a:avLst/>
            <a:gdLst/>
            <a:ahLst/>
            <a:cxnLst/>
            <a:rect r="r" b="b" t="t" l="l"/>
            <a:pathLst>
              <a:path h="10287000" w="9525">
                <a:moveTo>
                  <a:pt x="0" y="0"/>
                </a:moveTo>
                <a:lnTo>
                  <a:pt x="9525" y="0"/>
                </a:lnTo>
                <a:lnTo>
                  <a:pt x="9525"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422824"/>
            <a:ext cx="16783050" cy="9439275"/>
            <a:chOff x="0" y="0"/>
            <a:chExt cx="22377400" cy="12585700"/>
          </a:xfrm>
        </p:grpSpPr>
        <p:sp>
          <p:nvSpPr>
            <p:cNvPr name="Freeform 4" id="4"/>
            <p:cNvSpPr/>
            <p:nvPr/>
          </p:nvSpPr>
          <p:spPr>
            <a:xfrm flipH="false" flipV="false" rot="0">
              <a:off x="0" y="0"/>
              <a:ext cx="22377400" cy="12585700"/>
            </a:xfrm>
            <a:custGeom>
              <a:avLst/>
              <a:gdLst/>
              <a:ahLst/>
              <a:cxnLst/>
              <a:rect r="r" b="b" t="t" l="l"/>
              <a:pathLst>
                <a:path h="12585700" w="22377400">
                  <a:moveTo>
                    <a:pt x="0" y="0"/>
                  </a:moveTo>
                  <a:lnTo>
                    <a:pt x="22377400" y="0"/>
                  </a:lnTo>
                  <a:lnTo>
                    <a:pt x="22377400" y="12585700"/>
                  </a:lnTo>
                  <a:lnTo>
                    <a:pt x="0" y="12585700"/>
                  </a:lnTo>
                  <a:lnTo>
                    <a:pt x="0" y="0"/>
                  </a:lnTo>
                  <a:close/>
                </a:path>
              </a:pathLst>
            </a:custGeom>
            <a:blipFill>
              <a:blip r:embed="rId4"/>
              <a:stretch>
                <a:fillRect l="0" t="0" r="0" b="0"/>
              </a:stretch>
            </a:blipFill>
          </p:spPr>
        </p:sp>
      </p:grpSp>
      <p:sp>
        <p:nvSpPr>
          <p:cNvPr name="TextBox 5" id="5"/>
          <p:cNvSpPr txBox="true"/>
          <p:nvPr/>
        </p:nvSpPr>
        <p:spPr>
          <a:xfrm rot="-5400000">
            <a:off x="-2275904" y="4575286"/>
            <a:ext cx="5607739" cy="1414643"/>
          </a:xfrm>
          <a:prstGeom prst="rect">
            <a:avLst/>
          </a:prstGeom>
        </p:spPr>
        <p:txBody>
          <a:bodyPr anchor="t" rtlCol="false" tIns="0" lIns="0" bIns="0" rIns="0">
            <a:spAutoFit/>
          </a:bodyPr>
          <a:lstStyle/>
          <a:p>
            <a:pPr algn="l">
              <a:lnSpc>
                <a:spcPts val="9735"/>
              </a:lnSpc>
            </a:pPr>
            <a:r>
              <a:rPr lang="en-US" sz="6954">
                <a:solidFill>
                  <a:srgbClr val="FFFFFF"/>
                </a:solidFill>
                <a:latin typeface="TT Drugs"/>
                <a:ea typeface="TT Drugs"/>
                <a:cs typeface="TT Drugs"/>
                <a:sym typeface="TT Drugs"/>
              </a:rPr>
              <a:t>Clahan Store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79889" y="1028700"/>
            <a:ext cx="17325975" cy="7867650"/>
            <a:chOff x="0" y="0"/>
            <a:chExt cx="23101300" cy="10490200"/>
          </a:xfrm>
        </p:grpSpPr>
        <p:sp>
          <p:nvSpPr>
            <p:cNvPr name="Freeform 3" id="3"/>
            <p:cNvSpPr/>
            <p:nvPr/>
          </p:nvSpPr>
          <p:spPr>
            <a:xfrm flipH="false" flipV="false" rot="0">
              <a:off x="0" y="0"/>
              <a:ext cx="23101300" cy="10490200"/>
            </a:xfrm>
            <a:custGeom>
              <a:avLst/>
              <a:gdLst/>
              <a:ahLst/>
              <a:cxnLst/>
              <a:rect r="r" b="b" t="t" l="l"/>
              <a:pathLst>
                <a:path h="10490200" w="23101300">
                  <a:moveTo>
                    <a:pt x="0" y="0"/>
                  </a:moveTo>
                  <a:lnTo>
                    <a:pt x="23101300" y="0"/>
                  </a:lnTo>
                  <a:lnTo>
                    <a:pt x="23101300" y="10490200"/>
                  </a:lnTo>
                  <a:lnTo>
                    <a:pt x="0" y="10490200"/>
                  </a:lnTo>
                  <a:lnTo>
                    <a:pt x="0" y="0"/>
                  </a:lnTo>
                  <a:close/>
                </a:path>
              </a:pathLst>
            </a:custGeom>
            <a:blipFill>
              <a:blip r:embed="rId2"/>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3914" y="1028700"/>
            <a:ext cx="17383125" cy="8096250"/>
            <a:chOff x="0" y="0"/>
            <a:chExt cx="23177500" cy="10795000"/>
          </a:xfrm>
        </p:grpSpPr>
        <p:sp>
          <p:nvSpPr>
            <p:cNvPr name="Freeform 3" id="3"/>
            <p:cNvSpPr/>
            <p:nvPr/>
          </p:nvSpPr>
          <p:spPr>
            <a:xfrm flipH="false" flipV="false" rot="0">
              <a:off x="0" y="0"/>
              <a:ext cx="23177500" cy="10795000"/>
            </a:xfrm>
            <a:custGeom>
              <a:avLst/>
              <a:gdLst/>
              <a:ahLst/>
              <a:cxnLst/>
              <a:rect r="r" b="b" t="t" l="l"/>
              <a:pathLst>
                <a:path h="10795000" w="23177500">
                  <a:moveTo>
                    <a:pt x="0" y="0"/>
                  </a:moveTo>
                  <a:lnTo>
                    <a:pt x="23177500" y="0"/>
                  </a:lnTo>
                  <a:lnTo>
                    <a:pt x="23177500" y="10795000"/>
                  </a:lnTo>
                  <a:lnTo>
                    <a:pt x="0" y="10795000"/>
                  </a:lnTo>
                  <a:lnTo>
                    <a:pt x="0" y="0"/>
                  </a:lnTo>
                  <a:close/>
                </a:path>
              </a:pathLst>
            </a:custGeom>
            <a:blipFill>
              <a:blip r:embed="rId2"/>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68872" y="1028700"/>
            <a:ext cx="17754600" cy="8343900"/>
            <a:chOff x="0" y="0"/>
            <a:chExt cx="23672800" cy="11125200"/>
          </a:xfrm>
        </p:grpSpPr>
        <p:sp>
          <p:nvSpPr>
            <p:cNvPr name="Freeform 3" id="3"/>
            <p:cNvSpPr/>
            <p:nvPr/>
          </p:nvSpPr>
          <p:spPr>
            <a:xfrm flipH="false" flipV="false" rot="0">
              <a:off x="0" y="0"/>
              <a:ext cx="23672800" cy="11125200"/>
            </a:xfrm>
            <a:custGeom>
              <a:avLst/>
              <a:gdLst/>
              <a:ahLst/>
              <a:cxnLst/>
              <a:rect r="r" b="b" t="t" l="l"/>
              <a:pathLst>
                <a:path h="11125200" w="23672800">
                  <a:moveTo>
                    <a:pt x="0" y="0"/>
                  </a:moveTo>
                  <a:lnTo>
                    <a:pt x="23672800" y="0"/>
                  </a:lnTo>
                  <a:lnTo>
                    <a:pt x="23672800" y="11125200"/>
                  </a:lnTo>
                  <a:lnTo>
                    <a:pt x="0" y="11125200"/>
                  </a:lnTo>
                  <a:lnTo>
                    <a:pt x="0" y="0"/>
                  </a:lnTo>
                  <a:close/>
                </a:path>
              </a:pathLst>
            </a:custGeom>
            <a:blipFill>
              <a:blip r:embed="rId2"/>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8312" y="3359174"/>
            <a:ext cx="17328305" cy="4326876"/>
          </a:xfrm>
          <a:custGeom>
            <a:avLst/>
            <a:gdLst/>
            <a:ahLst/>
            <a:cxnLst/>
            <a:rect r="r" b="b" t="t" l="l"/>
            <a:pathLst>
              <a:path h="4326876" w="17328305">
                <a:moveTo>
                  <a:pt x="0" y="0"/>
                </a:moveTo>
                <a:lnTo>
                  <a:pt x="17328305" y="0"/>
                </a:lnTo>
                <a:lnTo>
                  <a:pt x="17328305" y="4326875"/>
                </a:lnTo>
                <a:lnTo>
                  <a:pt x="0" y="4326875"/>
                </a:lnTo>
                <a:lnTo>
                  <a:pt x="0" y="0"/>
                </a:lnTo>
                <a:close/>
              </a:path>
            </a:pathLst>
          </a:custGeom>
          <a:blipFill>
            <a:blip r:embed="rId4"/>
            <a:stretch>
              <a:fillRect l="0" t="0" r="0" b="0"/>
            </a:stretch>
          </a:blipFill>
        </p:spPr>
      </p:sp>
      <p:sp>
        <p:nvSpPr>
          <p:cNvPr name="TextBox 4" id="4"/>
          <p:cNvSpPr txBox="true"/>
          <p:nvPr/>
        </p:nvSpPr>
        <p:spPr>
          <a:xfrm rot="0">
            <a:off x="2601344" y="916305"/>
            <a:ext cx="4739221" cy="1543050"/>
          </a:xfrm>
          <a:prstGeom prst="rect">
            <a:avLst/>
          </a:prstGeom>
        </p:spPr>
        <p:txBody>
          <a:bodyPr anchor="t" rtlCol="false" tIns="0" lIns="0" bIns="0" rIns="0">
            <a:spAutoFit/>
          </a:bodyPr>
          <a:lstStyle/>
          <a:p>
            <a:pPr algn="l">
              <a:lnSpc>
                <a:spcPts val="12599"/>
              </a:lnSpc>
            </a:pPr>
            <a:r>
              <a:rPr lang="en-US" sz="9000">
                <a:solidFill>
                  <a:srgbClr val="FFFFFF"/>
                </a:solidFill>
                <a:latin typeface="TT Drugs"/>
                <a:ea typeface="TT Drugs"/>
                <a:cs typeface="TT Drugs"/>
                <a:sym typeface="TT Drugs"/>
              </a:rPr>
              <a:t>Security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77968" y="2421484"/>
            <a:ext cx="17306959" cy="7030662"/>
          </a:xfrm>
          <a:custGeom>
            <a:avLst/>
            <a:gdLst/>
            <a:ahLst/>
            <a:cxnLst/>
            <a:rect r="r" b="b" t="t" l="l"/>
            <a:pathLst>
              <a:path h="7030662" w="17306959">
                <a:moveTo>
                  <a:pt x="0" y="0"/>
                </a:moveTo>
                <a:lnTo>
                  <a:pt x="17306959" y="0"/>
                </a:lnTo>
                <a:lnTo>
                  <a:pt x="17306959" y="7030662"/>
                </a:lnTo>
                <a:lnTo>
                  <a:pt x="0" y="7030662"/>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3160" y="2983706"/>
            <a:ext cx="18040350" cy="6276975"/>
            <a:chOff x="0" y="0"/>
            <a:chExt cx="24053800" cy="8369300"/>
          </a:xfrm>
        </p:grpSpPr>
        <p:sp>
          <p:nvSpPr>
            <p:cNvPr name="Freeform 3" id="3"/>
            <p:cNvSpPr/>
            <p:nvPr/>
          </p:nvSpPr>
          <p:spPr>
            <a:xfrm flipH="false" flipV="false" rot="0">
              <a:off x="0" y="0"/>
              <a:ext cx="24053800" cy="8369300"/>
            </a:xfrm>
            <a:custGeom>
              <a:avLst/>
              <a:gdLst/>
              <a:ahLst/>
              <a:cxnLst/>
              <a:rect r="r" b="b" t="t" l="l"/>
              <a:pathLst>
                <a:path h="8369300" w="24053800">
                  <a:moveTo>
                    <a:pt x="0" y="0"/>
                  </a:moveTo>
                  <a:lnTo>
                    <a:pt x="24053800" y="0"/>
                  </a:lnTo>
                  <a:lnTo>
                    <a:pt x="24053800" y="8369300"/>
                  </a:lnTo>
                  <a:lnTo>
                    <a:pt x="0" y="8369300"/>
                  </a:lnTo>
                  <a:lnTo>
                    <a:pt x="0" y="0"/>
                  </a:lnTo>
                  <a:close/>
                </a:path>
              </a:pathLst>
            </a:custGeom>
            <a:blipFill>
              <a:blip r:embed="rId2"/>
              <a:stretch>
                <a:fillRect l="-297" t="-473" r="-19" b="-437"/>
              </a:stretch>
            </a:blipFill>
          </p:spPr>
        </p:sp>
      </p:grpSp>
      <p:sp>
        <p:nvSpPr>
          <p:cNvPr name="TextBox 4" id="4"/>
          <p:cNvSpPr txBox="true"/>
          <p:nvPr/>
        </p:nvSpPr>
        <p:spPr>
          <a:xfrm rot="0">
            <a:off x="0" y="-112395"/>
            <a:ext cx="6499698" cy="1543050"/>
          </a:xfrm>
          <a:prstGeom prst="rect">
            <a:avLst/>
          </a:prstGeom>
        </p:spPr>
        <p:txBody>
          <a:bodyPr anchor="t" rtlCol="false" tIns="0" lIns="0" bIns="0" rIns="0">
            <a:spAutoFit/>
          </a:bodyPr>
          <a:lstStyle/>
          <a:p>
            <a:pPr algn="l">
              <a:lnSpc>
                <a:spcPts val="12599"/>
              </a:lnSpc>
            </a:pPr>
            <a:r>
              <a:rPr lang="en-US" sz="9000">
                <a:solidFill>
                  <a:srgbClr val="FFFFFF"/>
                </a:solidFill>
                <a:latin typeface="TT Drugs"/>
                <a:ea typeface="TT Drugs"/>
                <a:cs typeface="TT Drugs"/>
                <a:sym typeface="TT Drugs"/>
              </a:rPr>
              <a:t>Monitoring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38592" y="2377764"/>
            <a:ext cx="17811750" cy="5534025"/>
            <a:chOff x="0" y="0"/>
            <a:chExt cx="23749000" cy="7378700"/>
          </a:xfrm>
        </p:grpSpPr>
        <p:sp>
          <p:nvSpPr>
            <p:cNvPr name="Freeform 3" id="3"/>
            <p:cNvSpPr/>
            <p:nvPr/>
          </p:nvSpPr>
          <p:spPr>
            <a:xfrm flipH="false" flipV="false" rot="0">
              <a:off x="0" y="0"/>
              <a:ext cx="23749000" cy="7378700"/>
            </a:xfrm>
            <a:custGeom>
              <a:avLst/>
              <a:gdLst/>
              <a:ahLst/>
              <a:cxnLst/>
              <a:rect r="r" b="b" t="t" l="l"/>
              <a:pathLst>
                <a:path h="7378700" w="23749000">
                  <a:moveTo>
                    <a:pt x="0" y="0"/>
                  </a:moveTo>
                  <a:lnTo>
                    <a:pt x="23749000" y="0"/>
                  </a:lnTo>
                  <a:lnTo>
                    <a:pt x="23749000" y="7378700"/>
                  </a:lnTo>
                  <a:lnTo>
                    <a:pt x="0" y="7378700"/>
                  </a:lnTo>
                  <a:lnTo>
                    <a:pt x="0" y="0"/>
                  </a:lnTo>
                  <a:close/>
                </a:path>
              </a:pathLst>
            </a:custGeom>
            <a:blipFill>
              <a:blip r:embed="rId2"/>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2876512"/>
            <a:ext cx="18288000" cy="6381750"/>
            <a:chOff x="0" y="0"/>
            <a:chExt cx="24384000" cy="8509000"/>
          </a:xfrm>
        </p:grpSpPr>
        <p:sp>
          <p:nvSpPr>
            <p:cNvPr name="Freeform 4" id="4"/>
            <p:cNvSpPr/>
            <p:nvPr/>
          </p:nvSpPr>
          <p:spPr>
            <a:xfrm flipH="false" flipV="false" rot="0">
              <a:off x="0" y="0"/>
              <a:ext cx="24384000" cy="8509000"/>
            </a:xfrm>
            <a:custGeom>
              <a:avLst/>
              <a:gdLst/>
              <a:ahLst/>
              <a:cxnLst/>
              <a:rect r="r" b="b" t="t" l="l"/>
              <a:pathLst>
                <a:path h="8509000" w="24384000">
                  <a:moveTo>
                    <a:pt x="0" y="0"/>
                  </a:moveTo>
                  <a:lnTo>
                    <a:pt x="24384000" y="0"/>
                  </a:lnTo>
                  <a:lnTo>
                    <a:pt x="24384000" y="8509000"/>
                  </a:lnTo>
                  <a:lnTo>
                    <a:pt x="0" y="8509000"/>
                  </a:lnTo>
                  <a:lnTo>
                    <a:pt x="0" y="0"/>
                  </a:lnTo>
                  <a:close/>
                </a:path>
              </a:pathLst>
            </a:custGeom>
            <a:blipFill>
              <a:blip r:embed="rId4"/>
              <a:stretch>
                <a:fillRect l="-3257" t="0" r="-24" b="0"/>
              </a:stretch>
            </a:blipFill>
          </p:spPr>
        </p:sp>
      </p:grpSp>
      <p:sp>
        <p:nvSpPr>
          <p:cNvPr name="TextBox 5" id="5"/>
          <p:cNvSpPr txBox="true"/>
          <p:nvPr/>
        </p:nvSpPr>
        <p:spPr>
          <a:xfrm rot="0">
            <a:off x="552717" y="920153"/>
            <a:ext cx="8407203" cy="1366723"/>
          </a:xfrm>
          <a:prstGeom prst="rect">
            <a:avLst/>
          </a:prstGeom>
        </p:spPr>
        <p:txBody>
          <a:bodyPr anchor="t" rtlCol="false" tIns="0" lIns="0" bIns="0" rIns="0">
            <a:spAutoFit/>
          </a:bodyPr>
          <a:lstStyle/>
          <a:p>
            <a:pPr algn="l">
              <a:lnSpc>
                <a:spcPts val="11155"/>
              </a:lnSpc>
            </a:pPr>
            <a:r>
              <a:rPr lang="en-US" sz="7968">
                <a:solidFill>
                  <a:srgbClr val="FFFFFF"/>
                </a:solidFill>
                <a:latin typeface="TT Drugs"/>
                <a:ea typeface="TT Drugs"/>
                <a:cs typeface="TT Drugs"/>
                <a:sym typeface="TT Drugs"/>
              </a:rPr>
              <a:t>Troubleshooting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8414997" cy="10413997"/>
          </a:xfrm>
          <a:custGeom>
            <a:avLst/>
            <a:gdLst/>
            <a:ahLst/>
            <a:cxnLst/>
            <a:rect r="r" b="b" t="t" l="l"/>
            <a:pathLst>
              <a:path h="10413997" w="18414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5400000">
            <a:off x="-2629357" y="4371975"/>
            <a:ext cx="6458864" cy="1543050"/>
          </a:xfrm>
          <a:prstGeom prst="rect">
            <a:avLst/>
          </a:prstGeom>
        </p:spPr>
        <p:txBody>
          <a:bodyPr anchor="t" rtlCol="false" tIns="0" lIns="0" bIns="0" rIns="0">
            <a:spAutoFit/>
          </a:bodyPr>
          <a:lstStyle/>
          <a:p>
            <a:pPr algn="l">
              <a:lnSpc>
                <a:spcPts val="12599"/>
              </a:lnSpc>
            </a:pPr>
            <a:r>
              <a:rPr lang="en-US" sz="9000">
                <a:solidFill>
                  <a:srgbClr val="FFFFFF"/>
                </a:solidFill>
                <a:latin typeface="TT Drugs"/>
                <a:ea typeface="TT Drugs"/>
                <a:cs typeface="TT Drugs"/>
                <a:sym typeface="TT Drugs"/>
              </a:rPr>
              <a:t>Conclusion </a:t>
            </a:r>
          </a:p>
        </p:txBody>
      </p:sp>
      <p:sp>
        <p:nvSpPr>
          <p:cNvPr name="TextBox 4" id="4"/>
          <p:cNvSpPr txBox="true"/>
          <p:nvPr/>
        </p:nvSpPr>
        <p:spPr>
          <a:xfrm rot="0">
            <a:off x="2107081" y="709121"/>
            <a:ext cx="15152219" cy="8840184"/>
          </a:xfrm>
          <a:prstGeom prst="rect">
            <a:avLst/>
          </a:prstGeom>
        </p:spPr>
        <p:txBody>
          <a:bodyPr anchor="t" rtlCol="false" tIns="0" lIns="0" bIns="0" rIns="0">
            <a:spAutoFit/>
          </a:bodyPr>
          <a:lstStyle/>
          <a:p>
            <a:pPr algn="l">
              <a:lnSpc>
                <a:spcPts val="2783"/>
              </a:lnSpc>
            </a:pPr>
            <a:r>
              <a:rPr lang="en-US" sz="2141">
                <a:solidFill>
                  <a:srgbClr val="FFFFFF"/>
                </a:solidFill>
                <a:latin typeface="TT Drugs"/>
                <a:ea typeface="TT Drugs"/>
                <a:cs typeface="TT Drugs"/>
                <a:sym typeface="TT Drugs"/>
              </a:rPr>
              <a:t>This project demonstrates a complete cloud-native e-commerce system built using a microservices architecture deployed on Kubernetes.</a:t>
            </a:r>
          </a:p>
          <a:p>
            <a:pPr algn="l">
              <a:lnSpc>
                <a:spcPts val="2783"/>
              </a:lnSpc>
            </a:pPr>
          </a:p>
          <a:p>
            <a:pPr algn="l">
              <a:lnSpc>
                <a:spcPts val="2783"/>
              </a:lnSpc>
            </a:pPr>
            <a:r>
              <a:rPr lang="en-US" sz="2141">
                <a:solidFill>
                  <a:srgbClr val="FFFFFF"/>
                </a:solidFill>
                <a:latin typeface="TT Drugs"/>
                <a:ea typeface="TT Drugs"/>
                <a:cs typeface="TT Drugs"/>
                <a:sym typeface="TT Drugs"/>
              </a:rPr>
              <a:t>We designed the system with independent services, each responsible for a specific business function such as user management, product handling. payments, admin operations, and shipping.</a:t>
            </a:r>
          </a:p>
          <a:p>
            <a:pPr algn="l">
              <a:lnSpc>
                <a:spcPts val="2783"/>
              </a:lnSpc>
            </a:pPr>
          </a:p>
          <a:p>
            <a:pPr algn="l">
              <a:lnSpc>
                <a:spcPts val="2783"/>
              </a:lnSpc>
            </a:pPr>
            <a:r>
              <a:rPr lang="en-US" sz="2141">
                <a:solidFill>
                  <a:srgbClr val="FFFFFF"/>
                </a:solidFill>
                <a:latin typeface="TT Drugs"/>
                <a:ea typeface="TT Drugs"/>
                <a:cs typeface="TT Drugs"/>
                <a:sym typeface="TT Drugs"/>
              </a:rPr>
              <a:t>By following the database-per-service pattern and using a MongoDB Replica</a:t>
            </a:r>
          </a:p>
          <a:p>
            <a:pPr algn="l">
              <a:lnSpc>
                <a:spcPts val="2783"/>
              </a:lnSpc>
            </a:pPr>
          </a:p>
          <a:p>
            <a:pPr algn="l">
              <a:lnSpc>
                <a:spcPts val="2783"/>
              </a:lnSpc>
            </a:pPr>
            <a:r>
              <a:rPr lang="en-US" sz="2141">
                <a:solidFill>
                  <a:srgbClr val="FFFFFF"/>
                </a:solidFill>
                <a:latin typeface="TT Drugs"/>
                <a:ea typeface="TT Drugs"/>
                <a:cs typeface="TT Drugs"/>
                <a:sym typeface="TT Drugs"/>
              </a:rPr>
              <a:t>Set, we ensured</a:t>
            </a:r>
          </a:p>
          <a:p>
            <a:pPr algn="l">
              <a:lnSpc>
                <a:spcPts val="2783"/>
              </a:lnSpc>
            </a:pPr>
          </a:p>
          <a:p>
            <a:pPr algn="l">
              <a:lnSpc>
                <a:spcPts val="2783"/>
              </a:lnSpc>
            </a:pPr>
            <a:r>
              <a:rPr lang="en-US" sz="2141">
                <a:solidFill>
                  <a:srgbClr val="FFFFFF"/>
                </a:solidFill>
                <a:latin typeface="TT Drugs"/>
                <a:ea typeface="TT Drugs"/>
                <a:cs typeface="TT Drugs"/>
                <a:sym typeface="TT Drugs"/>
              </a:rPr>
              <a:t>High availability</a:t>
            </a:r>
          </a:p>
          <a:p>
            <a:pPr algn="l">
              <a:lnSpc>
                <a:spcPts val="2783"/>
              </a:lnSpc>
            </a:pPr>
          </a:p>
          <a:p>
            <a:pPr algn="l">
              <a:lnSpc>
                <a:spcPts val="2783"/>
              </a:lnSpc>
            </a:pPr>
            <a:r>
              <a:rPr lang="en-US" sz="2141">
                <a:solidFill>
                  <a:srgbClr val="FFFFFF"/>
                </a:solidFill>
                <a:latin typeface="TT Drugs"/>
                <a:ea typeface="TT Drugs"/>
                <a:cs typeface="TT Drugs"/>
                <a:sym typeface="TT Drugs"/>
              </a:rPr>
              <a:t>Data isolation</a:t>
            </a:r>
          </a:p>
          <a:p>
            <a:pPr algn="l">
              <a:lnSpc>
                <a:spcPts val="2783"/>
              </a:lnSpc>
            </a:pPr>
          </a:p>
          <a:p>
            <a:pPr algn="l">
              <a:lnSpc>
                <a:spcPts val="2783"/>
              </a:lnSpc>
            </a:pPr>
            <a:r>
              <a:rPr lang="en-US" sz="2141">
                <a:solidFill>
                  <a:srgbClr val="FFFFFF"/>
                </a:solidFill>
                <a:latin typeface="TT Drugs"/>
                <a:ea typeface="TT Drugs"/>
                <a:cs typeface="TT Drugs"/>
                <a:sym typeface="TT Drugs"/>
              </a:rPr>
              <a:t>Fault tolerance</a:t>
            </a:r>
          </a:p>
          <a:p>
            <a:pPr algn="l">
              <a:lnSpc>
                <a:spcPts val="2783"/>
              </a:lnSpc>
            </a:pPr>
          </a:p>
          <a:p>
            <a:pPr algn="l">
              <a:lnSpc>
                <a:spcPts val="2783"/>
              </a:lnSpc>
            </a:pPr>
            <a:r>
              <a:rPr lang="en-US" sz="2141">
                <a:solidFill>
                  <a:srgbClr val="FFFFFF"/>
                </a:solidFill>
                <a:latin typeface="TT Drugs"/>
                <a:ea typeface="TT Drugs"/>
                <a:cs typeface="TT Drugs"/>
                <a:sym typeface="TT Drugs"/>
              </a:rPr>
              <a:t>Kubernetes enabled us to achieve:</a:t>
            </a:r>
          </a:p>
          <a:p>
            <a:pPr algn="l">
              <a:lnSpc>
                <a:spcPts val="2783"/>
              </a:lnSpc>
            </a:pPr>
          </a:p>
          <a:p>
            <a:pPr algn="l">
              <a:lnSpc>
                <a:spcPts val="2783"/>
              </a:lnSpc>
            </a:pPr>
            <a:r>
              <a:rPr lang="en-US" sz="2141">
                <a:solidFill>
                  <a:srgbClr val="FFFFFF"/>
                </a:solidFill>
                <a:latin typeface="TT Drugs"/>
                <a:ea typeface="TT Drugs"/>
                <a:cs typeface="TT Drugs"/>
                <a:sym typeface="TT Drugs"/>
              </a:rPr>
              <a:t>Automatic scaling</a:t>
            </a:r>
          </a:p>
          <a:p>
            <a:pPr algn="l">
              <a:lnSpc>
                <a:spcPts val="2783"/>
              </a:lnSpc>
            </a:pPr>
          </a:p>
          <a:p>
            <a:pPr algn="l">
              <a:lnSpc>
                <a:spcPts val="2783"/>
              </a:lnSpc>
            </a:pPr>
            <a:r>
              <a:rPr lang="en-US" sz="2141">
                <a:solidFill>
                  <a:srgbClr val="FFFFFF"/>
                </a:solidFill>
                <a:latin typeface="TT Drugs"/>
                <a:ea typeface="TT Drugs"/>
                <a:cs typeface="TT Drugs"/>
                <a:sym typeface="TT Drugs"/>
              </a:rPr>
              <a:t>Self-healing through health probes</a:t>
            </a:r>
          </a:p>
          <a:p>
            <a:pPr algn="l">
              <a:lnSpc>
                <a:spcPts val="2783"/>
              </a:lnSpc>
            </a:pPr>
          </a:p>
          <a:p>
            <a:pPr algn="l">
              <a:lnSpc>
                <a:spcPts val="2783"/>
              </a:lnSpc>
            </a:pPr>
            <a:r>
              <a:rPr lang="en-US" sz="2141">
                <a:solidFill>
                  <a:srgbClr val="FFFFFF"/>
                </a:solidFill>
                <a:latin typeface="TT Drugs"/>
                <a:ea typeface="TT Drugs"/>
                <a:cs typeface="TT Drugs"/>
                <a:sym typeface="TT Drugs"/>
              </a:rPr>
              <a:t>Efficient resource utilization</a:t>
            </a:r>
          </a:p>
          <a:p>
            <a:pPr algn="l">
              <a:lnSpc>
                <a:spcPts val="2783"/>
              </a:lnSpc>
            </a:pPr>
          </a:p>
          <a:p>
            <a:pPr algn="l">
              <a:lnSpc>
                <a:spcPts val="2783"/>
              </a:lnSpc>
            </a:pPr>
            <a:r>
              <a:rPr lang="en-US" sz="2141">
                <a:solidFill>
                  <a:srgbClr val="FFFFFF"/>
                </a:solidFill>
                <a:latin typeface="TT Drugs"/>
                <a:ea typeface="TT Drugs"/>
                <a:cs typeface="TT Drugs"/>
                <a:sym typeface="TT Drugs"/>
              </a:rPr>
              <a:t>Smooth rolling updates with zero downtime</a:t>
            </a:r>
          </a:p>
        </p:txBody>
      </p:sp>
    </p:spTree>
  </p:cSld>
  <p:clrMapOvr>
    <a:masterClrMapping/>
  </p:clrMapOvr>
</p:sld>
</file>

<file path=ppt/slides/slide21.xml><?xml version="1.0" encoding="utf-8"?>
<p:sld xmlns:p="http://schemas.openxmlformats.org/presentationml/2006/main" xmlns:a="http://schemas.openxmlformats.org/drawingml/2006/main">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1407142" y="7715250"/>
            <a:ext cx="6458864" cy="1543050"/>
          </a:xfrm>
          <a:prstGeom prst="rect">
            <a:avLst/>
          </a:prstGeom>
        </p:spPr>
        <p:txBody>
          <a:bodyPr anchor="t" rtlCol="false" tIns="0" lIns="0" bIns="0" rIns="0">
            <a:spAutoFit/>
          </a:bodyPr>
          <a:lstStyle/>
          <a:p>
            <a:pPr algn="l">
              <a:lnSpc>
                <a:spcPts val="12599"/>
              </a:lnSpc>
            </a:pPr>
            <a:r>
              <a:rPr lang="en-US" sz="9000">
                <a:solidFill>
                  <a:srgbClr val="FFFFFF"/>
                </a:solidFill>
                <a:latin typeface="TT Drugs"/>
                <a:ea typeface="TT Drugs"/>
                <a:cs typeface="TT Drugs"/>
                <a:sym typeface="TT Drugs"/>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DAHFltbKA9Q</dc:identifier>
  <dcterms:modified xsi:type="dcterms:W3CDTF">2011-08-01T06:04:30Z</dcterms:modified>
  <cp:revision>1</cp:revision>
  <dc:title>DOC-20260401-WA0005..pdf</dc:title>
</cp:coreProperties>
</file>